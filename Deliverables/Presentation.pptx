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78" r:id="rId10"/>
    <p:sldId id="279" r:id="rId11"/>
    <p:sldId id="280" r:id="rId12"/>
    <p:sldId id="268" r:id="rId13"/>
    <p:sldId id="269" r:id="rId14"/>
    <p:sldId id="270" r:id="rId15"/>
    <p:sldId id="281" r:id="rId1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710"/>
  </p:normalViewPr>
  <p:slideViewPr>
    <p:cSldViewPr snapToGrid="0">
      <p:cViewPr varScale="1">
        <p:scale>
          <a:sx n="83" d="100"/>
          <a:sy n="83" d="100"/>
        </p:scale>
        <p:origin x="4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D4466-9A91-864F-ACCD-23548FC318FC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82FD-7B2E-254B-9B39-6AEACB92D6F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02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92F4D-1826-C92F-36ED-27FED70D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3538D-5D0F-487A-4776-521D686FC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3A40F-BBFE-FA58-18DE-7FAA8CCB4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B40FC-8B71-6B04-0CBC-017B953C5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29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3C14-52A1-E93F-E8F1-CB736DC7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3761E-4F4B-890A-8C17-0AA98FCEB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A539C-0D8D-4522-EA90-CEBFF7AF0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4676F-CC54-7D86-F7CC-DF9A10CB3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39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06DE-4362-E6F5-EC85-678982EA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D441C-343C-4CA1-347C-44D41831F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D1DD9-D6CE-6909-9FA9-8B15FBCF4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B241F-F851-1B52-66C3-AD662CEEF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07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A99E-D2EF-D3BF-0E73-B29D6D61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2B8DB-AF8F-C0E9-DE86-4F051A938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ECC52-3930-8F8C-0ABC-B697659F9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287E6-C4E5-FADB-3741-B86768E71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51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2E12-0F4B-95D1-4715-99C1981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4299E-8D03-602F-FFE1-64F5CA860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21D28-7928-7BFC-4166-B21A7F4AE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D2D6D-EE34-A382-5A82-19564BA95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20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8E23-C496-EC14-6C39-1351C7F7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703BD-1255-F13D-D203-106799CA3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9766F-30B5-69B4-BC80-F428BDF55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8E720-6DC6-7EE9-71E2-4EACD2713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72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86D6-E3A9-CE40-D541-D58D4D242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04388-8625-B9DC-FFEC-61E093707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C918A-3260-5353-3426-7D11E01E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44DBA-695A-2E2E-FFA2-E026D534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323A-0A11-5691-900C-B17A308F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077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635D-C348-32A0-620B-87DCC904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559D-4049-B7F4-2046-FF2DFD906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AC89-763D-73FB-D0CC-DBA405BC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EED0F-D40C-7F22-FE8C-34E31920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9497-B461-F4E4-E304-EF5F1E56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568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DBAD-4047-7C8A-CFDF-6C8674D1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7756A-B904-AC6D-CA62-76D460A1D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6041E-9270-8E5C-F921-0BDCDB16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BCD0C-1451-1594-0CF7-7A0E4F2B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155BE-7800-3345-A3A6-90EBAD50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914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855F-2AD5-CAE5-982A-C7CA80442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FF1D-6CC2-3CE1-F88C-8B34548C5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04F9E-4B7E-621E-7B28-E53A1B955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A6069-2A88-4C73-4F41-E79803C9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71C9E-BDF3-4DAF-2171-2EAF3EA7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3EEB0-5DD0-5244-53AA-DDD82F61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543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3ED1-C84D-D148-ADA3-C2FC262E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1156-DC8D-7FFD-BF1B-55D3ACB04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6EFC1-92D3-6DFB-737E-A7B3A0BC8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6B25B-E755-B733-88B6-0973DEA88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3A41A-BD54-493F-4045-F102D6F6A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6641A-75F5-6B1F-0278-7ED34380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E403F-F185-800E-574A-4901E828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FE0F5-F5AF-199A-6E31-F631D176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841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A022-5E65-752D-4EDB-87105BD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99E9E-F860-8CBE-B901-A1140978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2D2CE-6409-A832-5047-2A5F58F9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B54A9-414A-B821-0D25-25BC968C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804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4FE13-60F8-AE48-ABE4-7D62DC11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684E2-5B26-694B-AE15-460FE300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62548-DF25-C1F9-9B21-CD2BFDE7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111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2711-DA3C-F488-A543-957759DB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F1692-42AB-9BCB-1D47-75C64932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DCC6E-2D6C-DF39-55C9-E8298566C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6F774-318A-F657-693D-BDD5B9C6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C5549-59CA-2A4B-51C6-AB3D1946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4C263-62CD-71F4-58C6-96CCEB99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895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38D2-A4C1-7B48-9E96-19AE6683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5EAF3-731D-B0E2-4A1F-ADAEAFBE5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477EE-E494-E228-C02C-B0E5F72ED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B778C-3293-75A8-445A-3188D08C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5F978-2166-E3D3-932B-956CC492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5C615-3C01-8E04-23C6-F916548A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481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6F91-F791-E792-6F74-9B4F1574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26C88-EECA-A318-67D0-1053C67D5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EB74-E900-DCB6-4AD5-CA40320B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3C175-6197-DA11-1627-4BAFD050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166E-129D-15A9-A0E8-DB5DE093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723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A4C8C-CE00-B0E8-580A-A5E4CDF90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69152-A273-86CC-3B42-298EB90AB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2DE6-BCC9-AF0E-4A92-322B0AA7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02235-774D-9C27-804B-80E2BABB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5D75-0ED3-DF0A-E436-B9ECDBD1B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9995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22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4E5D8-3EFE-B5F2-04B6-161F2DD1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4366E-5B1D-F8F1-12AA-066D8CB3A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12D4-F26A-93D4-B1A1-187415C2D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998C5-9B42-9E40-8538-099C0E00D8BB}" type="datetimeFigureOut">
              <a:rPr lang="en-CN" smtClean="0"/>
              <a:t>05/01/2026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26AA4-881A-B12C-FEB9-D6AECD606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38F28-7583-6B1E-65F9-12E321990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4B28C-40A4-B648-A589-3841C7AC56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200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EA01-AD6A-37BB-AE93-C92DA6D2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5F2CAC-2D64-BDF1-32E2-D6632ED14541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94807E-6D50-A807-FB37-27F17B265118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E19792-DC50-BA17-B6E2-12FF9E46627F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9B9777-6E65-1003-4C38-57E23A9ADE54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7DCABF0-B610-3911-4DE4-A0DB69D81EE0}"/>
              </a:ext>
            </a:extLst>
          </p:cNvPr>
          <p:cNvSpPr/>
          <p:nvPr/>
        </p:nvSpPr>
        <p:spPr>
          <a:xfrm>
            <a:off x="0" y="438912"/>
            <a:ext cx="12191695" cy="64190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92C5D7-2216-1610-CAD8-91D36289B670}"/>
              </a:ext>
            </a:extLst>
          </p:cNvPr>
          <p:cNvSpPr/>
          <p:nvPr/>
        </p:nvSpPr>
        <p:spPr>
          <a:xfrm>
            <a:off x="960120" y="2971800"/>
            <a:ext cx="10287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55555"/>
                </a:solidFill>
              </a:rPr>
              <a:t>A Rolling-Window Framework Combining Factor-Based Return Prediction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555555"/>
                </a:solidFill>
              </a:rPr>
              <a:t>with Long-Only Mean–Variance Optimization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E5AEA4-0A02-AB97-BA60-FDA779062D8D}"/>
              </a:ext>
            </a:extLst>
          </p:cNvPr>
          <p:cNvSpPr/>
          <p:nvPr/>
        </p:nvSpPr>
        <p:spPr>
          <a:xfrm>
            <a:off x="3794760" y="4160520"/>
            <a:ext cx="457200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AC85FEC-2F47-40C8-308E-30B18E9BCB58}"/>
              </a:ext>
            </a:extLst>
          </p:cNvPr>
          <p:cNvSpPr/>
          <p:nvPr/>
        </p:nvSpPr>
        <p:spPr>
          <a:xfrm>
            <a:off x="201168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39B"/>
                </a:solidFill>
              </a:rPr>
              <a:t>Final Project Presentation  ·  Duke University  ·  Spring 2026</a:t>
            </a:r>
            <a:endParaRPr lang="en-US"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05A8A6-3242-93BE-D8AC-50727D8C502E}"/>
              </a:ext>
            </a:extLst>
          </p:cNvPr>
          <p:cNvSpPr/>
          <p:nvPr/>
        </p:nvSpPr>
        <p:spPr>
          <a:xfrm>
            <a:off x="2011680" y="507492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</a:rPr>
              <a:t>Ginger Gao  |  Jade Cheng  |  Tea Tafaj  |  Wenyi Dai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4F0139-2583-E930-3588-A9A83306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951990"/>
            <a:ext cx="8229600" cy="187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7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Problem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Problem Formulation &amp; Business Context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399553" y="1289304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716280" y="5099567"/>
            <a:ext cx="4617720" cy="93825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240" y="5165137"/>
            <a:ext cx="2433173" cy="82295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6000" y="1289304"/>
            <a:ext cx="541020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3"/>
          <p:cNvSpPr/>
          <p:nvPr/>
        </p:nvSpPr>
        <p:spPr>
          <a:xfrm>
            <a:off x="6443095" y="1987691"/>
            <a:ext cx="4754880" cy="3876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/>
              <a:t>Smart-beta systematic strategies attempt to capture factor risk premia at low costs.</a:t>
            </a:r>
          </a:p>
          <a:p>
            <a:endParaRPr lang="en-US" b="1" dirty="0"/>
          </a:p>
          <a:p>
            <a:r>
              <a:rPr lang="en-US" b="1" dirty="0"/>
              <a:t>The Core Challenge:</a:t>
            </a:r>
            <a:r>
              <a:rPr lang="en-US" dirty="0"/>
              <a:t> </a:t>
            </a:r>
          </a:p>
          <a:p>
            <a:r>
              <a:rPr lang="en-US" dirty="0"/>
              <a:t>The expected return vector  </a:t>
            </a:r>
          </a:p>
          <a:p>
            <a:r>
              <a:rPr lang="en-US" dirty="0"/>
              <a:t>is unobserved and noisy. Traditional Mean-Variance Optimization (MVO) is </a:t>
            </a:r>
            <a:r>
              <a:rPr lang="en-US" i="1" dirty="0"/>
              <a:t>famously sensitive</a:t>
            </a:r>
            <a:r>
              <a:rPr lang="en-US" dirty="0"/>
              <a:t> to estimation errors</a:t>
            </a:r>
          </a:p>
          <a:p>
            <a:endParaRPr lang="en-US" dirty="0"/>
          </a:p>
          <a:p>
            <a:r>
              <a:rPr lang="en-US" dirty="0"/>
              <a:t>Small estimation errors produce extreme, unstable weight vectors. Our end-to-end pipeline is specifically designed to mitigate these issues through rigorous data filtering and structural safeguards.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CB0311-1C2E-2A2C-61F7-88F065DC6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53" y="1370482"/>
            <a:ext cx="4335538" cy="5467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872E9D-BECD-BA85-34FC-A5B40B268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70482"/>
            <a:ext cx="419100" cy="571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8DE5B9-81B4-06E8-C691-6B4A9AE50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813" y="1498600"/>
            <a:ext cx="3937000" cy="330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9EC164-0C8D-03AC-8417-1DA4D8E4DA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7382" b="10396"/>
          <a:stretch>
            <a:fillRect/>
          </a:stretch>
        </p:blipFill>
        <p:spPr>
          <a:xfrm>
            <a:off x="9743682" y="1544309"/>
            <a:ext cx="1420259" cy="284491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3A763958-F3A5-A8C8-AAEC-AA402265DC74}"/>
              </a:ext>
            </a:extLst>
          </p:cNvPr>
          <p:cNvSpPr/>
          <p:nvPr/>
        </p:nvSpPr>
        <p:spPr>
          <a:xfrm>
            <a:off x="764650" y="2270831"/>
            <a:ext cx="4710485" cy="302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At each monthly rebalancing date </a:t>
            </a:r>
            <a:r>
              <a:rPr lang="en-US" b="1" dirty="0"/>
              <a:t>T</a:t>
            </a:r>
            <a:r>
              <a:rPr lang="en-US" dirty="0"/>
              <a:t>, using only historically available information, an investor must solve a </a:t>
            </a:r>
            <a:r>
              <a:rPr lang="en-US" b="1" dirty="0"/>
              <a:t>selection and allocation problem under uncertainty</a:t>
            </a:r>
            <a:r>
              <a:rPr lang="en-US" dirty="0"/>
              <a:t>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Which small set of attractive stocks to hold?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much capital to allocate to each?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Objective:</a:t>
            </a:r>
            <a:r>
              <a:rPr lang="en-US" dirty="0"/>
              <a:t> Maximize the risk-adjusted return </a:t>
            </a:r>
            <a:r>
              <a:rPr lang="en-US" b="1" dirty="0"/>
              <a:t>(Sharpe Ratio) </a:t>
            </a:r>
            <a:r>
              <a:rPr lang="en-US" dirty="0"/>
              <a:t>in the following month.</a:t>
            </a:r>
          </a:p>
          <a:p>
            <a:br>
              <a:rPr lang="en-US" sz="2400" dirty="0"/>
            </a:br>
            <a:endParaRPr lang="en-US" sz="2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5D8A05-F4B2-6401-3791-10B1D6E8E3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5259" y="3046940"/>
            <a:ext cx="358905" cy="3820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6F26A1E-EAFE-3963-AD8F-AA82BFFF83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4712" y="3925889"/>
            <a:ext cx="1051801" cy="328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5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Data Sources &amp; Target Formulation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594360" y="1280159"/>
            <a:ext cx="5440680" cy="5120641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6355080" y="1280159"/>
            <a:ext cx="5166360" cy="5120641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64008" cy="507492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94711" y="2580711"/>
            <a:ext cx="4434840" cy="103501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3991" y="2950192"/>
            <a:ext cx="4198687" cy="2960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793991" y="5017154"/>
            <a:ext cx="4434840" cy="103501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2960" y="5304811"/>
            <a:ext cx="3004449" cy="3715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93B1C6-8BD7-C2A1-D599-4FD76661A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1417795"/>
            <a:ext cx="3215640" cy="4903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C9F7A4-2C7C-0E4B-F53E-34D24E6B8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323340"/>
            <a:ext cx="3556000" cy="5969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9C57332-20F9-3FC4-5CF6-9B625D172BD4}"/>
              </a:ext>
            </a:extLst>
          </p:cNvPr>
          <p:cNvSpPr txBox="1"/>
          <p:nvPr/>
        </p:nvSpPr>
        <p:spPr>
          <a:xfrm>
            <a:off x="670560" y="1995160"/>
            <a:ext cx="45521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CRSP Monthly Stock File (via WRDS):</a:t>
            </a:r>
            <a:r>
              <a:rPr lang="en-US" dirty="0"/>
              <a:t> Provides the firm-level panel: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               (return), </a:t>
            </a:r>
          </a:p>
          <a:p>
            <a:r>
              <a:rPr lang="en-US" dirty="0"/>
              <a:t>                             (price), </a:t>
            </a:r>
          </a:p>
          <a:p>
            <a:r>
              <a:rPr lang="en-US" dirty="0"/>
              <a:t>                             (volume). </a:t>
            </a:r>
          </a:p>
          <a:p>
            <a:endParaRPr lang="en-US" dirty="0"/>
          </a:p>
          <a:p>
            <a:r>
              <a:rPr lang="en-US" dirty="0"/>
              <a:t>Crucially, this dataset is free of survivorship bias.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Fama-French 5-Factor Dataset:</a:t>
            </a:r>
            <a:r>
              <a:rPr lang="en-US" dirty="0"/>
              <a:t> Supplies the canonical macroeconomic risk factors: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and the risk-free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C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C7C3D1-AC2C-2E01-8EBD-F96F61EC4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" y="2868035"/>
            <a:ext cx="10795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C65D7DD-91A5-1DFF-AF5D-47A28234C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49" y="3118767"/>
            <a:ext cx="1066800" cy="381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006BD4-E40C-1BC1-3B74-96E022FE9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449" y="3464892"/>
            <a:ext cx="1003300" cy="292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D90091-32EF-1EF2-2366-4064A454B2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949" y="5394960"/>
            <a:ext cx="3662503" cy="4056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2C5826-D210-11AD-D723-60B4A49DE2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7006" y="5440680"/>
            <a:ext cx="890122" cy="3728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F9D44B2-7BDD-8640-D6F1-2CC7EE3014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442" y="5845023"/>
            <a:ext cx="609600" cy="3937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8FC359-75C2-2C1F-89B9-839014600C54}"/>
              </a:ext>
            </a:extLst>
          </p:cNvPr>
          <p:cNvSpPr txBox="1"/>
          <p:nvPr/>
        </p:nvSpPr>
        <p:spPr>
          <a:xfrm>
            <a:off x="6629400" y="1906099"/>
            <a:ext cx="48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first construct the current-month excess return for stock </a:t>
            </a:r>
            <a:r>
              <a:rPr lang="en-US" dirty="0" err="1"/>
              <a:t>i</a:t>
            </a:r>
            <a:r>
              <a:rPr lang="en-US" dirty="0"/>
              <a:t>:</a:t>
            </a:r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295EBC-115F-91B4-70CF-149A19553EEA}"/>
              </a:ext>
            </a:extLst>
          </p:cNvPr>
          <p:cNvSpPr txBox="1"/>
          <p:nvPr/>
        </p:nvSpPr>
        <p:spPr>
          <a:xfrm>
            <a:off x="6649058" y="3768123"/>
            <a:ext cx="4480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forward-looking target variable (y) for all our predictive models is the </a:t>
            </a:r>
            <a:r>
              <a:rPr lang="en-US" b="1" dirty="0"/>
              <a:t>next-month</a:t>
            </a:r>
            <a:r>
              <a:rPr lang="en-US" dirty="0"/>
              <a:t> excess return:</a:t>
            </a:r>
            <a:endParaRPr lang="en-CN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1CD3D12C-B0F6-86C8-9197-F1A92EE5B6FE}"/>
              </a:ext>
            </a:extLst>
          </p:cNvPr>
          <p:cNvSpPr/>
          <p:nvPr/>
        </p:nvSpPr>
        <p:spPr>
          <a:xfrm>
            <a:off x="6694711" y="2572821"/>
            <a:ext cx="53625" cy="1042902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BC643A09-B7DB-0EB8-95B7-99BAFAC38C8F}"/>
              </a:ext>
            </a:extLst>
          </p:cNvPr>
          <p:cNvSpPr/>
          <p:nvPr/>
        </p:nvSpPr>
        <p:spPr>
          <a:xfrm>
            <a:off x="6730547" y="5024675"/>
            <a:ext cx="53625" cy="1042902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F49F7E5B-418F-0171-EE22-58AD098386D7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Strict </a:t>
            </a:r>
            <a:r>
              <a:rPr lang="en-US" sz="2800" b="1" dirty="0" err="1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Investability</a:t>
            </a: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Filters (Data Cleaning)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algn="ctr"/>
            <a:r>
              <a:rPr lang="en-US" dirty="0"/>
              <a:t>The raw CRSP universe is too noisy for optimization. We apply 5 sequential filters to build a realistic candidate pool:</a:t>
            </a:r>
            <a:endParaRPr lang="en-US" sz="1500" dirty="0"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64008" cy="443484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5"/>
          <p:cNvSpPr/>
          <p:nvPr/>
        </p:nvSpPr>
        <p:spPr>
          <a:xfrm>
            <a:off x="6602364" y="3559860"/>
            <a:ext cx="4708764" cy="92333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9128" y="3892798"/>
            <a:ext cx="4288536" cy="257454"/>
          </a:xfrm>
          <a:prstGeom prst="rect">
            <a:avLst/>
          </a:prstGeom>
        </p:spPr>
      </p:pic>
      <p:sp>
        <p:nvSpPr>
          <p:cNvPr id="22" name="Shape 5">
            <a:extLst>
              <a:ext uri="{FF2B5EF4-FFF2-40B4-BE49-F238E27FC236}">
                <a16:creationId xmlns:a16="http://schemas.microsoft.com/office/drawing/2014/main" id="{5F651C00-D198-1879-B024-B38F736C88BC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3FA52C-9293-09A6-3765-4CBF6D662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4474"/>
            <a:ext cx="3892163" cy="4337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373658-5125-3DAB-7D89-9D7163CD9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929968"/>
            <a:ext cx="3154680" cy="4474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C6A610B-C213-2EA5-B341-5A8833B4E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" y="2435860"/>
            <a:ext cx="4083368" cy="37363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5183AC1-E7E8-F02D-B666-421785FEFC51}"/>
              </a:ext>
            </a:extLst>
          </p:cNvPr>
          <p:cNvSpPr txBox="1"/>
          <p:nvPr/>
        </p:nvSpPr>
        <p:spPr>
          <a:xfrm>
            <a:off x="6602364" y="2439115"/>
            <a:ext cx="4708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After basic filters, stocks are dynamically ranked each month to form a </a:t>
            </a: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Top 100 Candidate Pool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based on Dollar Volume:</a:t>
            </a:r>
            <a:endParaRPr lang="en-C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3076F-8D53-4AAA-7F91-8170C894CDF9}"/>
              </a:ext>
            </a:extLst>
          </p:cNvPr>
          <p:cNvSpPr txBox="1"/>
          <p:nvPr/>
        </p:nvSpPr>
        <p:spPr>
          <a:xfrm>
            <a:off x="6593619" y="4796110"/>
            <a:ext cx="47823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* Note: We take the absolute value of price because CRSP records closing price as negative when the last trade is unavailable and the bid-ask midpoint is used.</a:t>
            </a:r>
            <a:endParaRPr lang="en-CN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B52169C5-3F5F-B788-7F8D-03AB082BFA6C}"/>
              </a:ext>
            </a:extLst>
          </p:cNvPr>
          <p:cNvSpPr/>
          <p:nvPr/>
        </p:nvSpPr>
        <p:spPr>
          <a:xfrm>
            <a:off x="6602365" y="3543139"/>
            <a:ext cx="68382" cy="94005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36-Month Rolling-Window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7BA84C1C-F4A8-D68C-59AF-327BB89F8821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46D1E952-B28B-3EC5-4798-EE85C306E488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062A0D-5986-644B-C8B2-E61E6595F50B}"/>
              </a:ext>
            </a:extLst>
          </p:cNvPr>
          <p:cNvSpPr txBox="1"/>
          <p:nvPr/>
        </p:nvSpPr>
        <p:spPr>
          <a:xfrm>
            <a:off x="790063" y="1243583"/>
            <a:ext cx="10621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 strictly prevent </a:t>
            </a: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look-ahead bias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and account for non-stationarity, the pipeline re-estimates chronologically at every month 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T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.</a:t>
            </a:r>
            <a:endParaRPr lang="en-C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69E75D0-282A-0192-9E96-7541791D4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9" y="2017928"/>
            <a:ext cx="11091671" cy="4811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Traditional Model — Enhanced OLS (RidgeCV)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64008" cy="5285232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55319" y="2377070"/>
            <a:ext cx="5379721" cy="64082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522609"/>
            <a:ext cx="5222104" cy="25830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72200" y="1289304"/>
            <a:ext cx="5806440" cy="5285232"/>
          </a:xfrm>
          <a:prstGeom prst="roundRect">
            <a:avLst>
              <a:gd name="adj" fmla="val 138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5"/>
          <p:cNvSpPr/>
          <p:nvPr/>
        </p:nvSpPr>
        <p:spPr>
          <a:xfrm>
            <a:off x="6172200" y="1298448"/>
            <a:ext cx="64008" cy="5285232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8"/>
          <p:cNvSpPr/>
          <p:nvPr/>
        </p:nvSpPr>
        <p:spPr>
          <a:xfrm>
            <a:off x="6403827" y="3843741"/>
            <a:ext cx="5394960" cy="1133061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451" y="4196101"/>
            <a:ext cx="5172016" cy="599158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69D08DE4-3100-12A2-B191-C2D0A90E3F75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649C15DE-DE5F-568C-AC14-C8CD14D02690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4BBC34-6A99-F5C0-7CF6-47277224C7D1}"/>
              </a:ext>
            </a:extLst>
          </p:cNvPr>
          <p:cNvSpPr txBox="1"/>
          <p:nvPr/>
        </p:nvSpPr>
        <p:spPr>
          <a:xfrm>
            <a:off x="713232" y="1341042"/>
            <a:ext cx="5106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Based on instructor feedback, plain OLS cannot capture Cross-Sectional &amp; Time-Series (CSTS) structures. We expanded the features: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5F23A4-FCC6-5997-1F45-8D70DF05A840}"/>
              </a:ext>
            </a:extLst>
          </p:cNvPr>
          <p:cNvSpPr txBox="1"/>
          <p:nvPr/>
        </p:nvSpPr>
        <p:spPr>
          <a:xfrm>
            <a:off x="725424" y="3566160"/>
            <a:ext cx="5346192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Non-Linear Momentum: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Added squared returns  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 capture asymmetric reversal effects after extreme moves.</a:t>
            </a:r>
          </a:p>
          <a:p>
            <a:pPr algn="l">
              <a:spcAft>
                <a:spcPts val="750"/>
              </a:spcAft>
            </a:pP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Factor-Size Interactions: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Added 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allowing factor sensitivities to vary with firm size (e.g., small-cap vs large-cap).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A044B66-2AE6-1FD0-3B36-47E5FC4CF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655" y="3977640"/>
            <a:ext cx="530154" cy="41114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AA4527-0C3E-1FDD-DD2C-AE0A65135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700" y="5350083"/>
            <a:ext cx="1733636" cy="33374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71DF230-029C-5532-BCB0-2BC11C535C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999" y="1334317"/>
            <a:ext cx="4165600" cy="50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F3DD399-657C-0272-7451-574C5359EA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1965959"/>
            <a:ext cx="4191000" cy="1524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E8B5323-0D98-C97E-5110-F7D7A92EED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5302832"/>
            <a:ext cx="4445000" cy="762000"/>
          </a:xfrm>
          <a:prstGeom prst="rect">
            <a:avLst/>
          </a:prstGeom>
        </p:spPr>
      </p:pic>
      <p:sp>
        <p:nvSpPr>
          <p:cNvPr id="37" name="Shape 11">
            <a:extLst>
              <a:ext uri="{FF2B5EF4-FFF2-40B4-BE49-F238E27FC236}">
                <a16:creationId xmlns:a16="http://schemas.microsoft.com/office/drawing/2014/main" id="{18BE76D2-5836-C0D4-78EA-71F1C56DA4B4}"/>
              </a:ext>
            </a:extLst>
          </p:cNvPr>
          <p:cNvSpPr/>
          <p:nvPr/>
        </p:nvSpPr>
        <p:spPr>
          <a:xfrm>
            <a:off x="6416228" y="3860916"/>
            <a:ext cx="45719" cy="1115885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E090-555A-2AD9-A2EC-C9F2B952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6">
            <a:extLst>
              <a:ext uri="{FF2B5EF4-FFF2-40B4-BE49-F238E27FC236}">
                <a16:creationId xmlns:a16="http://schemas.microsoft.com/office/drawing/2014/main" id="{CDB1380D-553C-EE7E-003E-E4376A1C6AAC}"/>
              </a:ext>
            </a:extLst>
          </p:cNvPr>
          <p:cNvSpPr/>
          <p:nvPr/>
        </p:nvSpPr>
        <p:spPr>
          <a:xfrm>
            <a:off x="6355080" y="1325876"/>
            <a:ext cx="5440680" cy="5166360"/>
          </a:xfrm>
          <a:prstGeom prst="roundRect">
            <a:avLst>
              <a:gd name="adj" fmla="val 14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C85E214-2623-9BCC-CC8E-E757015CD0E3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9F58DA-A1AA-6BF2-28F6-D3FEC3191224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460E38-199C-4B12-4060-0A1F9B688C3D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8A0EE3-FEB0-58AC-6E33-627BBB580059}"/>
              </a:ext>
            </a:extLst>
          </p:cNvPr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Machine Learning Model — Random Forest Regressor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35C9A6-4686-D8E2-1E48-D018C37FBEDE}"/>
              </a:ext>
            </a:extLst>
          </p:cNvPr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AC24C1C-47C9-4E5D-B8BD-FCFAB10CD75F}"/>
              </a:ext>
            </a:extLst>
          </p:cNvPr>
          <p:cNvSpPr/>
          <p:nvPr/>
        </p:nvSpPr>
        <p:spPr>
          <a:xfrm>
            <a:off x="594360" y="1325876"/>
            <a:ext cx="5440680" cy="5166360"/>
          </a:xfrm>
          <a:prstGeom prst="roundRect">
            <a:avLst>
              <a:gd name="adj" fmla="val 14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08E09C-711C-1748-0C66-A8FCBAA703F5}"/>
              </a:ext>
            </a:extLst>
          </p:cNvPr>
          <p:cNvSpPr/>
          <p:nvPr/>
        </p:nvSpPr>
        <p:spPr>
          <a:xfrm>
            <a:off x="594360" y="1325880"/>
            <a:ext cx="64008" cy="516636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24D3E8E-D575-B6CA-841D-8606EE5DF204}"/>
              </a:ext>
            </a:extLst>
          </p:cNvPr>
          <p:cNvSpPr/>
          <p:nvPr/>
        </p:nvSpPr>
        <p:spPr>
          <a:xfrm>
            <a:off x="830513" y="2953069"/>
            <a:ext cx="4945314" cy="1234879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4C160E9C-98A0-0610-46F9-80622FBCE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105" y="3131816"/>
            <a:ext cx="4608576" cy="777240"/>
          </a:xfrm>
          <a:prstGeom prst="rect">
            <a:avLst/>
          </a:prstGeom>
        </p:spPr>
      </p:pic>
      <p:sp>
        <p:nvSpPr>
          <p:cNvPr id="16" name="Shape 13">
            <a:extLst>
              <a:ext uri="{FF2B5EF4-FFF2-40B4-BE49-F238E27FC236}">
                <a16:creationId xmlns:a16="http://schemas.microsoft.com/office/drawing/2014/main" id="{44099497-DFD2-3844-98D0-C77A7B5A716A}"/>
              </a:ext>
            </a:extLst>
          </p:cNvPr>
          <p:cNvSpPr/>
          <p:nvPr/>
        </p:nvSpPr>
        <p:spPr>
          <a:xfrm>
            <a:off x="6355080" y="1325880"/>
            <a:ext cx="64008" cy="516636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8FDF792-FEDD-2BA2-1CD9-6F400EEACC94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93B721E-ADEC-63FA-AF66-45869A37E4D7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CE27C-DF8D-377A-CE08-8A9D1D083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325878"/>
            <a:ext cx="2650170" cy="4935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EC0BE7-FE58-A020-B7F4-03D86D7D036C}"/>
              </a:ext>
            </a:extLst>
          </p:cNvPr>
          <p:cNvSpPr txBox="1"/>
          <p:nvPr/>
        </p:nvSpPr>
        <p:spPr>
          <a:xfrm>
            <a:off x="758952" y="1819432"/>
            <a:ext cx="50808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An ensemble of B = 200  regression trees, where        is trained on a bootstrap resample. The prediction is the unweighted average: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EF4423-D3FA-3CB9-4CAF-95F0DBA382D5}"/>
              </a:ext>
            </a:extLst>
          </p:cNvPr>
          <p:cNvSpPr txBox="1"/>
          <p:nvPr/>
        </p:nvSpPr>
        <p:spPr>
          <a:xfrm>
            <a:off x="830513" y="4532652"/>
            <a:ext cx="4945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Trees recursively partition the space, naturally capturing non-linearities and complex interactions without manual engineering.</a:t>
            </a:r>
            <a:endParaRPr lang="en-C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119A61C-605B-0DC9-1739-1AC377299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266" y="2120476"/>
            <a:ext cx="223849" cy="335774"/>
          </a:xfrm>
          <a:prstGeom prst="rect">
            <a:avLst/>
          </a:prstGeom>
        </p:spPr>
      </p:pic>
      <p:sp>
        <p:nvSpPr>
          <p:cNvPr id="26" name="Shape 11">
            <a:extLst>
              <a:ext uri="{FF2B5EF4-FFF2-40B4-BE49-F238E27FC236}">
                <a16:creationId xmlns:a16="http://schemas.microsoft.com/office/drawing/2014/main" id="{FFA37B74-2DB8-1749-9373-065228A8EB4B}"/>
              </a:ext>
            </a:extLst>
          </p:cNvPr>
          <p:cNvSpPr/>
          <p:nvPr/>
        </p:nvSpPr>
        <p:spPr>
          <a:xfrm>
            <a:off x="812225" y="2953065"/>
            <a:ext cx="64008" cy="1234879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C34E8AC-DF4A-2571-A722-73AE3378F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718" y="1376739"/>
            <a:ext cx="3642327" cy="48349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8C521F8-AC5F-BC93-37A3-B42E461A80CE}"/>
              </a:ext>
            </a:extLst>
          </p:cNvPr>
          <p:cNvSpPr txBox="1"/>
          <p:nvPr/>
        </p:nvSpPr>
        <p:spPr>
          <a:xfrm>
            <a:off x="6506718" y="1981660"/>
            <a:ext cx="5225034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Prediction Spread: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RF produces a noticeably wider cross-sectional standard deviation (0.048) vs OLS (0.018).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Decisiveness: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The wider spread makes RF far more decisive when ranking the 100 candidates to pick the Top 6.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Result: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Stock selection quality from RF significantly outperforms OLS.</a:t>
            </a:r>
          </a:p>
        </p:txBody>
      </p:sp>
    </p:spTree>
    <p:extLst>
      <p:ext uri="{BB962C8B-B14F-4D97-AF65-F5344CB8AC3E}">
        <p14:creationId xmlns:p14="http://schemas.microsoft.com/office/powerpoint/2010/main" val="275717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Decision Optimization — MVO Design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594360" y="1280158"/>
            <a:ext cx="5440680" cy="5303520"/>
          </a:xfrm>
          <a:prstGeom prst="roundRect">
            <a:avLst>
              <a:gd name="adj" fmla="val 137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94360" y="1280160"/>
            <a:ext cx="64008" cy="530352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1530626" y="1970056"/>
            <a:ext cx="3309730" cy="114757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354" y="2103418"/>
            <a:ext cx="2673392" cy="9503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87084" y="1280158"/>
            <a:ext cx="5166360" cy="5303520"/>
          </a:xfrm>
          <a:prstGeom prst="roundRect">
            <a:avLst>
              <a:gd name="adj" fmla="val 14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4"/>
          <p:cNvSpPr/>
          <p:nvPr/>
        </p:nvSpPr>
        <p:spPr>
          <a:xfrm>
            <a:off x="6355080" y="1280160"/>
            <a:ext cx="64008" cy="530352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7"/>
          <p:cNvSpPr/>
          <p:nvPr/>
        </p:nvSpPr>
        <p:spPr>
          <a:xfrm>
            <a:off x="6733032" y="3429000"/>
            <a:ext cx="4663440" cy="1195083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6184" y="3645676"/>
            <a:ext cx="4517136" cy="685800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505C18B4-D912-688F-3C4A-D32A7AAAF92E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A12E9C2C-6245-AFD9-4CA3-C620C0C2FAA1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51B569-69A3-7FF9-53C6-4F6DFF4FC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1295963"/>
            <a:ext cx="3644900" cy="469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C7E715F-4878-87FC-E2C4-061C0DDAC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942" y="1327823"/>
            <a:ext cx="4648200" cy="431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CCBFE7-408C-1653-9E7C-952B37F49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566160"/>
            <a:ext cx="4699000" cy="2832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72665F-1A3F-1647-8853-57FFAB5A39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542" y="1746492"/>
            <a:ext cx="4445000" cy="1536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1DDEBD3-083F-5E7A-FC1D-08B8FD5B0B2E}"/>
              </a:ext>
            </a:extLst>
          </p:cNvPr>
          <p:cNvSpPr txBox="1"/>
          <p:nvPr/>
        </p:nvSpPr>
        <p:spPr>
          <a:xfrm>
            <a:off x="6544542" y="4952569"/>
            <a:ext cx="5040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Because Sharpe-maximizing weights are scale-invariant, this strictly preserves the model's ordinal conviction while capping extreme values.</a:t>
            </a:r>
            <a:endParaRPr lang="en-CN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DDD1FA28-D8FE-A188-9E5E-6C88B2D74470}"/>
              </a:ext>
            </a:extLst>
          </p:cNvPr>
          <p:cNvSpPr/>
          <p:nvPr/>
        </p:nvSpPr>
        <p:spPr>
          <a:xfrm>
            <a:off x="1484310" y="1933578"/>
            <a:ext cx="85442" cy="1184049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053E12BC-B202-772D-9734-1635FD0A8F9D}"/>
              </a:ext>
            </a:extLst>
          </p:cNvPr>
          <p:cNvSpPr/>
          <p:nvPr/>
        </p:nvSpPr>
        <p:spPr>
          <a:xfrm>
            <a:off x="6696407" y="3428998"/>
            <a:ext cx="85442" cy="1184049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DCE3-FEB4-1ED8-FE1F-6060B0C4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C49DE8-062A-C176-821A-51C261F7BE3F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2C8E65-FE50-B244-3E1A-7ADECEEA3037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Data &amp; Methodology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837663-E878-BA39-7E95-0795CA876263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5FA570-DB5D-6967-61B9-6C9955348D4E}"/>
              </a:ext>
            </a:extLst>
          </p:cNvPr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Covariance Estimation — Diagonal Matrix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D119E8-41BA-CB11-F8CE-15213DAD8C3C}"/>
              </a:ext>
            </a:extLst>
          </p:cNvPr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5CC3C1D-9637-32E9-F0E9-8D06E29585B3}"/>
              </a:ext>
            </a:extLst>
          </p:cNvPr>
          <p:cNvSpPr/>
          <p:nvPr/>
        </p:nvSpPr>
        <p:spPr>
          <a:xfrm>
            <a:off x="607449" y="1341285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3F58F5-DC84-8897-8501-3C6ED59220CF}"/>
              </a:ext>
            </a:extLst>
          </p:cNvPr>
          <p:cNvSpPr/>
          <p:nvPr/>
        </p:nvSpPr>
        <p:spPr>
          <a:xfrm>
            <a:off x="594360" y="1325880"/>
            <a:ext cx="64008" cy="507492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CED69A-EE5F-9D65-B674-47B3E0407A27}"/>
              </a:ext>
            </a:extLst>
          </p:cNvPr>
          <p:cNvSpPr/>
          <p:nvPr/>
        </p:nvSpPr>
        <p:spPr>
          <a:xfrm>
            <a:off x="758952" y="1420451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12169"/>
                </a:solidFill>
              </a:rPr>
              <a:t>Estimator</a:t>
            </a:r>
            <a:endParaRPr lang="en-US" sz="2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74A164-13A3-137B-8D4D-5C95DC3C7E65}"/>
              </a:ext>
            </a:extLst>
          </p:cNvPr>
          <p:cNvSpPr/>
          <p:nvPr/>
        </p:nvSpPr>
        <p:spPr>
          <a:xfrm>
            <a:off x="962405" y="3014873"/>
            <a:ext cx="4754880" cy="89903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8DDF014-0990-7280-F230-7D2267E5B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697" y="3228105"/>
            <a:ext cx="4608576" cy="411480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31CB06C3-1288-D9C2-08BF-742149527253}"/>
              </a:ext>
            </a:extLst>
          </p:cNvPr>
          <p:cNvSpPr/>
          <p:nvPr/>
        </p:nvSpPr>
        <p:spPr>
          <a:xfrm>
            <a:off x="962405" y="4675963"/>
            <a:ext cx="4754880" cy="106646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34184F16-3471-A994-3C3E-B1F19AD17A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05" y="4783958"/>
            <a:ext cx="4359700" cy="850481"/>
          </a:xfrm>
          <a:prstGeom prst="rect">
            <a:avLst/>
          </a:prstGeom>
        </p:spPr>
      </p:pic>
      <p:sp>
        <p:nvSpPr>
          <p:cNvPr id="16" name="Shape 12">
            <a:extLst>
              <a:ext uri="{FF2B5EF4-FFF2-40B4-BE49-F238E27FC236}">
                <a16:creationId xmlns:a16="http://schemas.microsoft.com/office/drawing/2014/main" id="{34223BE0-C1FC-BEA9-539B-DFF8AAAF5CE1}"/>
              </a:ext>
            </a:extLst>
          </p:cNvPr>
          <p:cNvSpPr/>
          <p:nvPr/>
        </p:nvSpPr>
        <p:spPr>
          <a:xfrm>
            <a:off x="6355080" y="1325880"/>
            <a:ext cx="5166360" cy="5074920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2151BA6-3F47-1004-3B67-595816BF0A34}"/>
              </a:ext>
            </a:extLst>
          </p:cNvPr>
          <p:cNvSpPr/>
          <p:nvPr/>
        </p:nvSpPr>
        <p:spPr>
          <a:xfrm>
            <a:off x="6355080" y="1325880"/>
            <a:ext cx="64008" cy="507492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368004D-F321-A781-4AB8-1184FF707874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8E869C47-FB0A-680F-E620-9913FDC7FA2C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CA66AF-60F1-51CE-93B8-61C964D44B4B}"/>
              </a:ext>
            </a:extLst>
          </p:cNvPr>
          <p:cNvSpPr txBox="1"/>
          <p:nvPr/>
        </p:nvSpPr>
        <p:spPr>
          <a:xfrm>
            <a:off x="712470" y="1792211"/>
            <a:ext cx="515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Instead of a full sample covariance matrix, we deliberately use a diagonal matrix:</a:t>
            </a:r>
            <a:endParaRPr lang="en-CN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D2B701B-00C3-87B8-8017-04A25DBC043A}"/>
              </a:ext>
            </a:extLst>
          </p:cNvPr>
          <p:cNvSpPr/>
          <p:nvPr/>
        </p:nvSpPr>
        <p:spPr>
          <a:xfrm>
            <a:off x="941831" y="3024813"/>
            <a:ext cx="45719" cy="850482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2BEE4505-647B-9A60-6039-E50AD77744BD}"/>
              </a:ext>
            </a:extLst>
          </p:cNvPr>
          <p:cNvSpPr/>
          <p:nvPr/>
        </p:nvSpPr>
        <p:spPr>
          <a:xfrm>
            <a:off x="937887" y="4637354"/>
            <a:ext cx="45719" cy="1066468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AF694D-2DC7-6AD1-FA39-25A9FBA9F391}"/>
              </a:ext>
            </a:extLst>
          </p:cNvPr>
          <p:cNvSpPr txBox="1"/>
          <p:nvPr/>
        </p:nvSpPr>
        <p:spPr>
          <a:xfrm>
            <a:off x="6532761" y="1407877"/>
            <a:ext cx="6107594" cy="11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sz="2000" b="1" i="0" dirty="0">
                <a:solidFill>
                  <a:srgbClr val="012169"/>
                </a:solidFill>
                <a:effectLst/>
                <a:latin typeface="Roboto" panose="02000000000000000000" pitchFamily="2" charset="0"/>
              </a:rPr>
              <a:t>Why a Diagonal Approximation?</a:t>
            </a:r>
          </a:p>
          <a:p>
            <a:pPr>
              <a:buNone/>
            </a:pPr>
            <a:br>
              <a:rPr lang="en-US" sz="2000" dirty="0"/>
            </a:br>
            <a:endParaRPr lang="en-CN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FEAF6F-4652-65E9-08C2-E867B4BB5D13}"/>
              </a:ext>
            </a:extLst>
          </p:cNvPr>
          <p:cNvSpPr txBox="1"/>
          <p:nvPr/>
        </p:nvSpPr>
        <p:spPr>
          <a:xfrm>
            <a:off x="6659117" y="2115376"/>
            <a:ext cx="4781018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Noise Reduction: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On a 6-stock universe, off-diagonal covariances estimated from only 36 observations are highly noisy and cause extreme, unstable weights.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Robustness: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The diagonal estimator is invariant to changes in off-diagonal true structures, which is exactly where the sample estimator fails most.</a:t>
            </a:r>
          </a:p>
        </p:txBody>
      </p:sp>
    </p:spTree>
    <p:extLst>
      <p:ext uri="{BB962C8B-B14F-4D97-AF65-F5344CB8AC3E}">
        <p14:creationId xmlns:p14="http://schemas.microsoft.com/office/powerpoint/2010/main" val="408235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61D7-424B-4DC9-A7D5-5C670AF9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7929BD-2478-F5C7-C43B-49FB54630FAE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FBD3F5-8049-39F9-FCA0-183080E47859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Results &amp; Analysis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6A19D4-7B55-5951-C3F5-A1829B671C30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A11C35-220E-E91A-04E3-540FFF6FC058}"/>
              </a:ext>
            </a:extLst>
          </p:cNvPr>
          <p:cNvSpPr/>
          <p:nvPr/>
        </p:nvSpPr>
        <p:spPr>
          <a:xfrm>
            <a:off x="489204" y="8458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Diagnosing the “Error-Maximization” Effect(IS vs OOS)</a:t>
            </a:r>
            <a:endParaRPr lang="en-US" b="1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63DFDF-9369-4A66-43BB-050D870BF0B4}"/>
              </a:ext>
            </a:extLst>
          </p:cNvPr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5A7DCA7-811B-A4ED-02D3-DFFCEE7BF640}"/>
              </a:ext>
            </a:extLst>
          </p:cNvPr>
          <p:cNvSpPr/>
          <p:nvPr/>
        </p:nvSpPr>
        <p:spPr>
          <a:xfrm>
            <a:off x="497368" y="1300731"/>
            <a:ext cx="3840480" cy="539496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F70B8A-953C-45AC-38CF-668AC1649F93}"/>
              </a:ext>
            </a:extLst>
          </p:cNvPr>
          <p:cNvSpPr/>
          <p:nvPr/>
        </p:nvSpPr>
        <p:spPr>
          <a:xfrm>
            <a:off x="457200" y="1298448"/>
            <a:ext cx="64008" cy="539496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E54E21-649C-263E-F4A0-F3077EFC022D}"/>
              </a:ext>
            </a:extLst>
          </p:cNvPr>
          <p:cNvSpPr/>
          <p:nvPr/>
        </p:nvSpPr>
        <p:spPr>
          <a:xfrm>
            <a:off x="621792" y="141732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12169"/>
                </a:solidFill>
              </a:rPr>
              <a:t>In-Sample vs. Out-of-Sample Tracking</a:t>
            </a:r>
            <a:endParaRPr lang="en-US" sz="15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80F3BCF-E4BF-33A1-B419-6678B53BE82B}"/>
              </a:ext>
            </a:extLst>
          </p:cNvPr>
          <p:cNvSpPr/>
          <p:nvPr/>
        </p:nvSpPr>
        <p:spPr>
          <a:xfrm>
            <a:off x="1101655" y="2153293"/>
            <a:ext cx="2565884" cy="95765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83283AC5-995B-17E8-3CB1-A9CAE6F9A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4535" y="2199012"/>
            <a:ext cx="2304606" cy="36846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58D59D3B-A6F6-D978-8341-7F1A7F997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4535" y="2731039"/>
            <a:ext cx="2304606" cy="368468"/>
          </a:xfrm>
          <a:prstGeom prst="rect">
            <a:avLst/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88C5127A-3CF1-DD13-2773-CB072001B7AF}"/>
              </a:ext>
            </a:extLst>
          </p:cNvPr>
          <p:cNvSpPr/>
          <p:nvPr/>
        </p:nvSpPr>
        <p:spPr>
          <a:xfrm>
            <a:off x="4526280" y="1298448"/>
            <a:ext cx="726948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8" name="Image 2" descr="/mnt/data/is_vs_oos_wealth_curves.png">
            <a:extLst>
              <a:ext uri="{FF2B5EF4-FFF2-40B4-BE49-F238E27FC236}">
                <a16:creationId xmlns:a16="http://schemas.microsoft.com/office/drawing/2014/main" id="{018A8A6C-A539-C75A-21C4-63AD8A2BB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408" y="1371600"/>
            <a:ext cx="7067224" cy="5248656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3AC20DC0-847D-13A0-6817-8F0B95855BA1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5EB6FF5C-4353-2630-8199-9C7C54CF9A8A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F441E-17A8-B5F1-8649-94CE13308E66}"/>
              </a:ext>
            </a:extLst>
          </p:cNvPr>
          <p:cNvSpPr txBox="1"/>
          <p:nvPr/>
        </p:nvSpPr>
        <p:spPr>
          <a:xfrm>
            <a:off x="521208" y="1737240"/>
            <a:ext cx="418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We tracked  (Expected) and  (Realized):</a:t>
            </a:r>
            <a:endParaRPr lang="en-CN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03F34E-B241-7185-750B-6200A7BC9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40" y="3246518"/>
            <a:ext cx="2820631" cy="14049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323215F-5022-EB76-0F41-B46D237A0A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35" y="4651512"/>
            <a:ext cx="2645657" cy="198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9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D74-9558-A122-5471-20AC88F8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11CB95-F27B-69B5-2517-633EA99DBB79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AF3929-FF99-35E1-8BBF-201B918A9C36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Results &amp; Analysis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171FC4-F483-CBB6-2E54-9AA42D5BE107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FABB4C-C595-6300-AAF4-E14D2C264CDC}"/>
              </a:ext>
            </a:extLst>
          </p:cNvPr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Head-to-Head Comparison &amp; Business Interpretation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5B6C71-BA56-930E-8EBF-EC42084C81D5}"/>
              </a:ext>
            </a:extLst>
          </p:cNvPr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D4CE145-6D59-B370-715E-DB446893CF2D}"/>
              </a:ext>
            </a:extLst>
          </p:cNvPr>
          <p:cNvSpPr/>
          <p:nvPr/>
        </p:nvSpPr>
        <p:spPr>
          <a:xfrm>
            <a:off x="457200" y="1325880"/>
            <a:ext cx="62636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9" name="Image 0" descr="/mnt/data/compare.png">
            <a:extLst>
              <a:ext uri="{FF2B5EF4-FFF2-40B4-BE49-F238E27FC236}">
                <a16:creationId xmlns:a16="http://schemas.microsoft.com/office/drawing/2014/main" id="{3703FBFB-D97A-EF39-406D-253D6DB9A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61762"/>
            <a:ext cx="6117336" cy="2803156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06FF3BD1-71FC-78FC-24F7-6653378AD982}"/>
              </a:ext>
            </a:extLst>
          </p:cNvPr>
          <p:cNvSpPr/>
          <p:nvPr/>
        </p:nvSpPr>
        <p:spPr>
          <a:xfrm>
            <a:off x="6949440" y="132588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5663038-9561-5B8C-A021-E6E2DC8B42D4}"/>
              </a:ext>
            </a:extLst>
          </p:cNvPr>
          <p:cNvSpPr/>
          <p:nvPr/>
        </p:nvSpPr>
        <p:spPr>
          <a:xfrm>
            <a:off x="6949440" y="1325880"/>
            <a:ext cx="64008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88F927-6684-90AE-7897-D90C7B56193B}"/>
              </a:ext>
            </a:extLst>
          </p:cNvPr>
          <p:cNvSpPr/>
          <p:nvPr/>
        </p:nvSpPr>
        <p:spPr>
          <a:xfrm>
            <a:off x="7114032" y="144475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12169"/>
                </a:solidFill>
              </a:rPr>
              <a:t>Out-of-Sample Performance</a:t>
            </a:r>
            <a:endParaRPr lang="en-US" sz="15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EB8FC07-2A39-B3CA-0629-DADDEE47CFA3}"/>
              </a:ext>
            </a:extLst>
          </p:cNvPr>
          <p:cNvSpPr/>
          <p:nvPr/>
        </p:nvSpPr>
        <p:spPr>
          <a:xfrm>
            <a:off x="7086600" y="2066544"/>
            <a:ext cx="4297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January 2022–November 2025, 47 monthly rebalances.</a:t>
            </a:r>
            <a:endParaRPr lang="en-US" sz="1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368B014-F1D1-0C46-5D20-AB4D2F0DE5E9}"/>
              </a:ext>
            </a:extLst>
          </p:cNvPr>
          <p:cNvSpPr/>
          <p:nvPr/>
        </p:nvSpPr>
        <p:spPr>
          <a:xfrm>
            <a:off x="7086600" y="233172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F0FCBCF-9AF8-558C-ACDF-28E8A277EFE2}"/>
              </a:ext>
            </a:extLst>
          </p:cNvPr>
          <p:cNvSpPr/>
          <p:nvPr/>
        </p:nvSpPr>
        <p:spPr>
          <a:xfrm>
            <a:off x="7123176" y="2386584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169"/>
                </a:solidFill>
              </a:rPr>
              <a:t>Strategy</a:t>
            </a:r>
            <a:endParaRPr lang="en-US" sz="9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67B0F5E-E75C-38A9-4E6F-698E72C577B2}"/>
              </a:ext>
            </a:extLst>
          </p:cNvPr>
          <p:cNvSpPr/>
          <p:nvPr/>
        </p:nvSpPr>
        <p:spPr>
          <a:xfrm>
            <a:off x="8631936" y="23865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169"/>
                </a:solidFill>
              </a:rPr>
              <a:t>Return</a:t>
            </a:r>
            <a:endParaRPr lang="en-US" sz="9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6FAD8CE-5906-F37C-D0E9-3DA4CD5D2546}"/>
              </a:ext>
            </a:extLst>
          </p:cNvPr>
          <p:cNvSpPr/>
          <p:nvPr/>
        </p:nvSpPr>
        <p:spPr>
          <a:xfrm>
            <a:off x="9546336" y="2386584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169"/>
                </a:solidFill>
              </a:rPr>
              <a:t>Sharpe</a:t>
            </a:r>
            <a:endParaRPr lang="en-US" sz="9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13F3A08-9356-7A0B-09F5-74A0A1E5F146}"/>
              </a:ext>
            </a:extLst>
          </p:cNvPr>
          <p:cNvSpPr/>
          <p:nvPr/>
        </p:nvSpPr>
        <p:spPr>
          <a:xfrm>
            <a:off x="10323576" y="238658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169"/>
                </a:solidFill>
              </a:rPr>
              <a:t>Max DD</a:t>
            </a:r>
            <a:endParaRPr lang="en-US" sz="9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E9999CF-5D91-4F68-31E2-48B2DD40A14E}"/>
              </a:ext>
            </a:extLst>
          </p:cNvPr>
          <p:cNvSpPr/>
          <p:nvPr/>
        </p:nvSpPr>
        <p:spPr>
          <a:xfrm>
            <a:off x="7086600" y="2624328"/>
            <a:ext cx="4297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ADE9A86-87B0-1679-6D9A-411121976E6A}"/>
              </a:ext>
            </a:extLst>
          </p:cNvPr>
          <p:cNvSpPr/>
          <p:nvPr/>
        </p:nvSpPr>
        <p:spPr>
          <a:xfrm>
            <a:off x="7123176" y="2679192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A34A"/>
                </a:solidFill>
              </a:rPr>
              <a:t>RF + MVO</a:t>
            </a:r>
            <a:endParaRPr lang="en-US" sz="93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DE25F6F-966F-66AD-C463-936BC6427288}"/>
              </a:ext>
            </a:extLst>
          </p:cNvPr>
          <p:cNvSpPr/>
          <p:nvPr/>
        </p:nvSpPr>
        <p:spPr>
          <a:xfrm>
            <a:off x="8631936" y="26791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A34A"/>
                </a:solidFill>
              </a:rPr>
              <a:t>19.34%</a:t>
            </a:r>
            <a:endParaRPr lang="en-US" sz="93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5A27E23-1A48-E3C6-FC05-6E54CF836A8B}"/>
              </a:ext>
            </a:extLst>
          </p:cNvPr>
          <p:cNvSpPr/>
          <p:nvPr/>
        </p:nvSpPr>
        <p:spPr>
          <a:xfrm>
            <a:off x="9546336" y="2679192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A34A"/>
                </a:solidFill>
              </a:rPr>
              <a:t>1.10</a:t>
            </a:r>
            <a:endParaRPr lang="en-US" sz="93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E1986B7-7021-67DB-7463-4121A2BD6820}"/>
              </a:ext>
            </a:extLst>
          </p:cNvPr>
          <p:cNvSpPr/>
          <p:nvPr/>
        </p:nvSpPr>
        <p:spPr>
          <a:xfrm>
            <a:off x="10323576" y="26791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A34A"/>
                </a:solidFill>
              </a:rPr>
              <a:t>14.29%</a:t>
            </a:r>
            <a:endParaRPr lang="en-US" sz="93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E0ACC4B-4407-3D09-E124-E942FA946110}"/>
              </a:ext>
            </a:extLst>
          </p:cNvPr>
          <p:cNvSpPr/>
          <p:nvPr/>
        </p:nvSpPr>
        <p:spPr>
          <a:xfrm>
            <a:off x="7086600" y="2916936"/>
            <a:ext cx="4297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7BEDFC5-5260-5F82-08C4-4BEA9985DEAF}"/>
              </a:ext>
            </a:extLst>
          </p:cNvPr>
          <p:cNvSpPr/>
          <p:nvPr/>
        </p:nvSpPr>
        <p:spPr>
          <a:xfrm>
            <a:off x="7123176" y="2971800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OLS + MVO</a:t>
            </a:r>
            <a:endParaRPr lang="en-US" sz="93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2F03863-BE7E-1104-B0D3-386D6DBF8500}"/>
              </a:ext>
            </a:extLst>
          </p:cNvPr>
          <p:cNvSpPr/>
          <p:nvPr/>
        </p:nvSpPr>
        <p:spPr>
          <a:xfrm>
            <a:off x="8631936" y="297180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6.08%</a:t>
            </a:r>
            <a:endParaRPr lang="en-US" sz="93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D97D2B3-2E7F-584B-7D96-1F5B4114BD77}"/>
              </a:ext>
            </a:extLst>
          </p:cNvPr>
          <p:cNvSpPr/>
          <p:nvPr/>
        </p:nvSpPr>
        <p:spPr>
          <a:xfrm>
            <a:off x="9546336" y="297180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0.35</a:t>
            </a:r>
            <a:endParaRPr lang="en-US" sz="93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C826387-23AD-9B4E-E719-0C17D6D51FA6}"/>
              </a:ext>
            </a:extLst>
          </p:cNvPr>
          <p:cNvSpPr/>
          <p:nvPr/>
        </p:nvSpPr>
        <p:spPr>
          <a:xfrm>
            <a:off x="10323576" y="29718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45.62%</a:t>
            </a:r>
            <a:endParaRPr lang="en-US" sz="93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4D398D1-77A4-1E86-C88C-CFB19CA3D3B9}"/>
              </a:ext>
            </a:extLst>
          </p:cNvPr>
          <p:cNvSpPr/>
          <p:nvPr/>
        </p:nvSpPr>
        <p:spPr>
          <a:xfrm>
            <a:off x="7086600" y="3209544"/>
            <a:ext cx="4297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7929674-0399-2C20-66E9-16294CABF423}"/>
              </a:ext>
            </a:extLst>
          </p:cNvPr>
          <p:cNvSpPr/>
          <p:nvPr/>
        </p:nvSpPr>
        <p:spPr>
          <a:xfrm>
            <a:off x="7123176" y="326440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RF Equal-Weight</a:t>
            </a:r>
            <a:endParaRPr lang="en-US" sz="93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BB31F38-DF71-C14B-BECA-031F4E7B0388}"/>
              </a:ext>
            </a:extLst>
          </p:cNvPr>
          <p:cNvSpPr/>
          <p:nvPr/>
        </p:nvSpPr>
        <p:spPr>
          <a:xfrm>
            <a:off x="8631936" y="32644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22.42%</a:t>
            </a:r>
            <a:endParaRPr lang="en-US" sz="93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3631D34-EF1D-6B42-1439-A72079B3E157}"/>
              </a:ext>
            </a:extLst>
          </p:cNvPr>
          <p:cNvSpPr/>
          <p:nvPr/>
        </p:nvSpPr>
        <p:spPr>
          <a:xfrm>
            <a:off x="9546336" y="3264408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1.22</a:t>
            </a:r>
            <a:endParaRPr lang="en-US" sz="93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9742171-F4D7-A9B7-91C6-262C3174CCC2}"/>
              </a:ext>
            </a:extLst>
          </p:cNvPr>
          <p:cNvSpPr/>
          <p:nvPr/>
        </p:nvSpPr>
        <p:spPr>
          <a:xfrm>
            <a:off x="10323576" y="32644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3333"/>
                </a:solidFill>
              </a:rPr>
              <a:t>18.28%</a:t>
            </a:r>
            <a:endParaRPr lang="en-US" sz="93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5F12674-1F73-3602-BE2F-6FC0249488F0}"/>
              </a:ext>
            </a:extLst>
          </p:cNvPr>
          <p:cNvSpPr/>
          <p:nvPr/>
        </p:nvSpPr>
        <p:spPr>
          <a:xfrm>
            <a:off x="7086599" y="3630169"/>
            <a:ext cx="4144617" cy="75895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F6D698E7-14D6-EC60-9092-D67827F33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9752" y="3687373"/>
            <a:ext cx="3632156" cy="656027"/>
          </a:xfrm>
          <a:prstGeom prst="rect">
            <a:avLst/>
          </a:prstGeom>
        </p:spPr>
      </p:pic>
      <p:sp>
        <p:nvSpPr>
          <p:cNvPr id="36" name="Shape 32">
            <a:extLst>
              <a:ext uri="{FF2B5EF4-FFF2-40B4-BE49-F238E27FC236}">
                <a16:creationId xmlns:a16="http://schemas.microsoft.com/office/drawing/2014/main" id="{FAC3AD54-BE5C-B997-731D-FDE67EE19AEB}"/>
              </a:ext>
            </a:extLst>
          </p:cNvPr>
          <p:cNvSpPr/>
          <p:nvPr/>
        </p:nvSpPr>
        <p:spPr>
          <a:xfrm>
            <a:off x="7013448" y="4617720"/>
            <a:ext cx="4507992" cy="1783076"/>
          </a:xfrm>
          <a:prstGeom prst="roundRect">
            <a:avLst>
              <a:gd name="adj" fmla="val 4848"/>
            </a:avLst>
          </a:prstGeom>
          <a:solidFill>
            <a:srgbClr val="FDF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85A6A901-3538-3FBC-7F3C-1064DBEAE4ED}"/>
              </a:ext>
            </a:extLst>
          </p:cNvPr>
          <p:cNvSpPr/>
          <p:nvPr/>
        </p:nvSpPr>
        <p:spPr>
          <a:xfrm>
            <a:off x="6967728" y="4617719"/>
            <a:ext cx="45719" cy="1783075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289B0839-5681-CD95-F9A0-210ADB0F7EE5}"/>
              </a:ext>
            </a:extLst>
          </p:cNvPr>
          <p:cNvSpPr/>
          <p:nvPr/>
        </p:nvSpPr>
        <p:spPr>
          <a:xfrm>
            <a:off x="7114032" y="473659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12169"/>
                </a:solidFill>
              </a:rPr>
              <a:t>Core Insight</a:t>
            </a:r>
            <a:endParaRPr lang="en-US" sz="155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45521FAE-D98A-E75F-F711-D6DAB606B952}"/>
              </a:ext>
            </a:extLst>
          </p:cNvPr>
          <p:cNvSpPr/>
          <p:nvPr/>
        </p:nvSpPr>
        <p:spPr>
          <a:xfrm>
            <a:off x="7150608" y="5120640"/>
            <a:ext cx="4169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E2D4A0F7-A302-1441-0D6C-D4591B92537E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A4B9A4B7-D3EB-9C36-D1B1-9ED849923FF9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223B26-C9AD-F883-4708-321C6D2F9B45}"/>
              </a:ext>
            </a:extLst>
          </p:cNvPr>
          <p:cNvSpPr txBox="1"/>
          <p:nvPr/>
        </p:nvSpPr>
        <p:spPr>
          <a:xfrm>
            <a:off x="7411771" y="5070944"/>
            <a:ext cx="3935933" cy="1125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sz="1600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"Selection-first, optimization-second."</a:t>
            </a:r>
          </a:p>
          <a:p>
            <a:pPr algn="l">
              <a:spcAft>
                <a:spcPts val="1125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Practitioners must prioritize the predictive model and treat MVO purely as a concentration risk control.</a:t>
            </a:r>
          </a:p>
        </p:txBody>
      </p:sp>
    </p:spTree>
    <p:extLst>
      <p:ext uri="{BB962C8B-B14F-4D97-AF65-F5344CB8AC3E}">
        <p14:creationId xmlns:p14="http://schemas.microsoft.com/office/powerpoint/2010/main" val="198302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Recommendations &amp;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Recommendations &amp; Implementation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64008" cy="516636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4279392" y="141732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279392" y="1417320"/>
            <a:ext cx="64008" cy="516636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8065008" y="141732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8065008" y="1417320"/>
            <a:ext cx="64008" cy="5166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2FFBE14-3A43-D47B-6F5C-DC9915C21B85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88DAF589-48A6-C3FA-93F6-BA1112E9839A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126D2E-6101-116E-157A-2CD311E00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450340"/>
            <a:ext cx="2338562" cy="776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864F3B-332E-AC54-CB3F-A4588E989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450340"/>
            <a:ext cx="1783478" cy="6362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A0FF803-2680-F41C-4EE3-9CFA7CFBD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1464365"/>
            <a:ext cx="2298722" cy="6355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5DBB70-B317-A423-CAF0-E5971AE877D6}"/>
              </a:ext>
            </a:extLst>
          </p:cNvPr>
          <p:cNvSpPr txBox="1"/>
          <p:nvPr/>
        </p:nvSpPr>
        <p:spPr>
          <a:xfrm>
            <a:off x="698812" y="2259385"/>
            <a:ext cx="2638748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Deploy the Random Forest variant as the core production strategy.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Execute pipeline on the last business day of each month after CRSP/FF5 data updates.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Retrain models strictly from scratch on the 36-month window to capture regime shifts.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230EBE-1CDE-34BB-1258-35162C7C4477}"/>
              </a:ext>
            </a:extLst>
          </p:cNvPr>
          <p:cNvSpPr txBox="1"/>
          <p:nvPr/>
        </p:nvSpPr>
        <p:spPr>
          <a:xfrm>
            <a:off x="4435338" y="2249445"/>
            <a:ext cx="2462420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Track realized portfolio return vs. the Equal-Weight benchmark to detect MVO-layer drift.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Monitor the OOS RMSE of model predictions over time.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Track the frequency of hitting the  1/3 concentration cap.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0DBD5-F122-819A-0FA4-B574F44AEC01}"/>
              </a:ext>
            </a:extLst>
          </p:cNvPr>
          <p:cNvSpPr txBox="1"/>
          <p:nvPr/>
        </p:nvSpPr>
        <p:spPr>
          <a:xfrm>
            <a:off x="8251765" y="2259385"/>
            <a:ext cx="2298722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Account for transaction costs explicitly; transitions across volatile months introduce high friction.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Implement a discretionary human override mechanism during identified extreme market stress.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Limitations &amp; Future 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94360" y="1325880"/>
            <a:ext cx="64008" cy="5074920"/>
          </a:xfrm>
          <a:prstGeom prst="rect">
            <a:avLst/>
          </a:prstGeom>
          <a:solidFill>
            <a:srgbClr val="E89923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5166360" cy="5074920"/>
          </a:xfrm>
          <a:prstGeom prst="roundRect">
            <a:avLst>
              <a:gd name="adj" fmla="val 14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64008" cy="507492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771132" y="2981451"/>
            <a:ext cx="4251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4284" y="3027171"/>
            <a:ext cx="4105656" cy="548640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11ED2500-12BA-D1A4-3BFD-39A4E148CD12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FAC55CF1-7CD2-523A-74A5-24F2A9BB77E6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1A3A3-D6CB-7B55-8763-F42D94AB7F67}"/>
              </a:ext>
            </a:extLst>
          </p:cNvPr>
          <p:cNvSpPr txBox="1"/>
          <p:nvPr/>
        </p:nvSpPr>
        <p:spPr>
          <a:xfrm>
            <a:off x="704686" y="2199108"/>
            <a:ext cx="4399654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Frictionless trading assumption overstates net returns.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Diagonal covariance discards valuable pairwise correlation information.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Parsimonious feature set (only FF5 + Lags) omits firm-specific fundamental signals.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EF8AB8-EAFE-2EC1-E798-C1F557EE5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53134"/>
            <a:ext cx="3556000" cy="495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3C6F1D-09B9-09EA-3223-854DAA018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416" y="1434084"/>
            <a:ext cx="4165600" cy="533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852ACC-800E-6815-849F-0D09FC345A2E}"/>
              </a:ext>
            </a:extLst>
          </p:cNvPr>
          <p:cNvSpPr txBox="1"/>
          <p:nvPr/>
        </p:nvSpPr>
        <p:spPr>
          <a:xfrm>
            <a:off x="6503416" y="2075688"/>
            <a:ext cx="4827193" cy="161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Ledoit</a:t>
            </a: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-Wolf Shrinkage: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Safely incorporate correlation structure without extreme noise:</a:t>
            </a:r>
          </a:p>
          <a:p>
            <a:pPr>
              <a:buNone/>
            </a:pPr>
            <a:br>
              <a:rPr lang="en-US" dirty="0"/>
            </a:b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D79628-1E4D-7AE7-1B6C-E11071C2A462}"/>
              </a:ext>
            </a:extLst>
          </p:cNvPr>
          <p:cNvSpPr txBox="1"/>
          <p:nvPr/>
        </p:nvSpPr>
        <p:spPr>
          <a:xfrm>
            <a:off x="6503416" y="3863340"/>
            <a:ext cx="4827193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Turnover Penalties: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Incorporate transaction costs directly into the MVO objective function to stabilize sequential weights.</a:t>
            </a:r>
          </a:p>
          <a:p>
            <a:pPr marL="285750" indent="-28575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Panel Estimators: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Implement true CSTS panel models (e.g., Fama-MacBeth) instead of pooled 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 &amp; Core Takeaways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0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75892B6-5983-866D-BFC5-DAD6AABF274B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E69C9740-1C37-E1BB-42AA-A86FA95A2C99}"/>
              </a:ext>
            </a:extLst>
          </p:cNvPr>
          <p:cNvSpPr/>
          <p:nvPr/>
        </p:nvSpPr>
        <p:spPr>
          <a:xfrm flipV="1">
            <a:off x="502919" y="1115556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155E15C-EF8F-277B-035B-22F6B6875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20" y="1213335"/>
            <a:ext cx="10550560" cy="56446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06C8-AFEC-782B-E14F-806108E9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7472EE-D995-7824-E47B-48311520D298}"/>
              </a:ext>
            </a:extLst>
          </p:cNvPr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12169"/>
          </a:solidFill>
          <a:ln w="12700">
            <a:solidFill>
              <a:srgbClr val="01216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3ED26A-0948-A19F-BBD2-FDD1C6158A86}"/>
              </a:ext>
            </a:extLst>
          </p:cNvPr>
          <p:cNvSpPr/>
          <p:nvPr/>
        </p:nvSpPr>
        <p:spPr>
          <a:xfrm>
            <a:off x="7498080" y="109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9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ED78F3-5BFE-F882-B4E2-F23C4B8A20E5}"/>
              </a:ext>
            </a:extLst>
          </p:cNvPr>
          <p:cNvSpPr/>
          <p:nvPr/>
        </p:nvSpPr>
        <p:spPr>
          <a:xfrm>
            <a:off x="11658600" y="109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2684B7-9EA0-6304-4800-D60CE3E7B227}"/>
              </a:ext>
            </a:extLst>
          </p:cNvPr>
          <p:cNvSpPr/>
          <p:nvPr/>
        </p:nvSpPr>
        <p:spPr>
          <a:xfrm>
            <a:off x="3095822" y="21823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6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you!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27CFC9F-779A-FC4F-9424-9B4A57F5ADF8}"/>
              </a:ext>
            </a:extLst>
          </p:cNvPr>
          <p:cNvSpPr/>
          <p:nvPr/>
        </p:nvSpPr>
        <p:spPr>
          <a:xfrm>
            <a:off x="320040" y="1097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IDS/Math 586: Data Science &amp; Decision Optimization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6737E70A-C182-8404-CFAA-632F7FB916E2}"/>
              </a:ext>
            </a:extLst>
          </p:cNvPr>
          <p:cNvSpPr/>
          <p:nvPr/>
        </p:nvSpPr>
        <p:spPr>
          <a:xfrm flipV="1">
            <a:off x="655319" y="5740108"/>
            <a:ext cx="11003281" cy="11"/>
          </a:xfrm>
          <a:prstGeom prst="line">
            <a:avLst/>
          </a:prstGeom>
          <a:noFill/>
          <a:ln w="25400">
            <a:solidFill>
              <a:srgbClr val="E899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8A1113C4-EB83-7630-4743-B47AD5279D6E}"/>
              </a:ext>
            </a:extLst>
          </p:cNvPr>
          <p:cNvSpPr/>
          <p:nvPr/>
        </p:nvSpPr>
        <p:spPr>
          <a:xfrm>
            <a:off x="4150009" y="413156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121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Any Questions?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3229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1165</Words>
  <Application>Microsoft Office PowerPoint</Application>
  <PresentationFormat>宽屏</PresentationFormat>
  <Paragraphs>155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Roboto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 Cheng</dc:creator>
  <cp:lastModifiedBy>浚哲Junzhe 高Gao</cp:lastModifiedBy>
  <cp:revision>2</cp:revision>
  <dcterms:created xsi:type="dcterms:W3CDTF">2026-05-01T06:54:47Z</dcterms:created>
  <dcterms:modified xsi:type="dcterms:W3CDTF">2026-05-01T21:27:43Z</dcterms:modified>
</cp:coreProperties>
</file>